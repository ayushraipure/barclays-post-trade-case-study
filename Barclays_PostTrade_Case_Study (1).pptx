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8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Raipure" userId="3af297a27977c82a" providerId="LiveId" clId="{6887B55F-11DA-4CD6-9E69-D2EBB298560A}"/>
    <pc:docChg chg="custSel modSld">
      <pc:chgData name="Ayush Raipure" userId="3af297a27977c82a" providerId="LiveId" clId="{6887B55F-11DA-4CD6-9E69-D2EBB298560A}" dt="2026-09-23T04:12:46.199" v="0" actId="21"/>
      <pc:docMkLst>
        <pc:docMk/>
      </pc:docMkLst>
      <pc:sldChg chg="delSp mod">
        <pc:chgData name="Ayush Raipure" userId="3af297a27977c82a" providerId="LiveId" clId="{6887B55F-11DA-4CD6-9E69-D2EBB298560A}" dt="2026-09-23T04:12:46.199" v="0" actId="21"/>
        <pc:sldMkLst>
          <pc:docMk/>
          <pc:sldMk cId="0" sldId="256"/>
        </pc:sldMkLst>
        <pc:spChg chg="del">
          <ac:chgData name="Ayush Raipure" userId="3af297a27977c82a" providerId="LiveId" clId="{6887B55F-11DA-4CD6-9E69-D2EBB298560A}" dt="2026-09-23T04:12:46.199" v="0" actId="21"/>
          <ac:spMkLst>
            <pc:docMk/>
            <pc:sldMk cId="0" sldId="25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997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'I want to walk you through a real post-trade transformation at Barclays that I think says a lot about where operations is heading right now.' Keep this to 10 seconds - it's just a hook, not the content.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'Post-trade is everything that happens after a trade is agreed but before it's actually done - confirming it, moving the securities and cash, safekeeping the assets, and reporting on it.' Keep this brief - the interviewer likely knows this, you're just setting shared vocabulary before you get into Barclays specifically.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'Barclays' own operations leadership described the core issue - a lack of straight-through processing meant every exception had to be manually reconciled, and that ate up the time that should've gone into making settlement more efficient in the first place. Their infrastructure was monolithic, patched together from different vendors, and that made it slow and expensive to adapt whenever regulation changed.' If asked 'why does this matter,' pivot to: 'because manual reconciliation scales badly - as volumes grow, the exception-handling burden grows faster than headcount can keep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what changed? They moved from monolithic platforms with manual reconciliation to an orchestrated, microservices-based model they call Settlements-as-a-Service. The headline capability is end-to-end visibility - they can now see exactly where a trade is in its lifecycle, rather than tracing it manually across systems.' If pushed on scale, mention: they started around 35,000 daily cash settlement processes with a roadmap toward roughly half a million a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technical piece worth knowing is process orchestration - they used a platform called Camunda to manage the full trade lifecycle as one controlled flow: capture, validation, enrichment, matching, settlement.' Then use the quote: 'One of their post-trade technology leads specifically called out being able to click into a failed step, see why it failed, and replay it - instead of manually chasing it across systems.' This is your best 'sounds like an insider' line - use it verbatim if asked to go deeper on the tech.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matters right now because of T+1 - the US moved equities settlement from two days down to one day in May 2024. That compresses the window firms have to catch and fix errors manually, so orchestration stops being a nice-to-have and becomes a competitive necessity.' If asked for a cautionary counter-example, bring up GameStop/Robinhood in Jan 2021 - a spike in clearinghouse collateral demands tied to settlement risk forced Robinhood to restrict trading. Use it to show you understand the downside when post-trade infrastructure can't absorb stress.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'Barclays isn't an isolated case - it reflects an industry-wide shift. Modern reconciliation tooling can push automated matching close to 98%, and cut reconciliation cycles by 70-80% versus manual processes.' Caveat honestly if asked: 'those are vendor-published improvement figures, not independently audited, but they're directionally consistent with what regulators are pushing for under frameworks like CSDR's Settlement Discipline Regime.'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'If I had to boil this down to one idea for operations - visibility and straight-through processing aren't just efficiency plays anymore, they're resilience plays. As settlement windows shrink, firms that still rely on manual reconciliation are taking on structural risk, not just extra cost.' This is your strongest closing sentence - memorize it word for word, it's the kind of line that sticks with an interviewer.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141A47"/>
          </a:solidFill>
          <a:ln/>
        </p:spPr>
        <p:txBody>
          <a:bodyPr/>
          <a:lstStyle/>
          <a:p>
            <a:endParaRPr lang="en-IN"/>
          </a:p>
        </p:txBody>
      </p:sp>
      <p:sp>
        <p:nvSpPr>
          <p:cNvPr id="3" name="Shape 1"/>
          <p:cNvSpPr/>
          <p:nvPr/>
        </p:nvSpPr>
        <p:spPr>
          <a:xfrm>
            <a:off x="-1371600" y="4846320"/>
            <a:ext cx="3291840" cy="3291840"/>
          </a:xfrm>
          <a:prstGeom prst="ellipse">
            <a:avLst/>
          </a:prstGeom>
          <a:solidFill>
            <a:srgbClr val="141A47"/>
          </a:solidFill>
          <a:ln/>
        </p:spPr>
        <p:txBody>
          <a:bodyPr/>
          <a:lstStyle/>
          <a:p>
            <a:endParaRPr lang="en-IN"/>
          </a:p>
        </p:txBody>
      </p:sp>
      <p:sp>
        <p:nvSpPr>
          <p:cNvPr id="4" name="Text 2"/>
          <p:cNvSpPr txBox="1"/>
          <p:nvPr/>
        </p:nvSpPr>
        <p:spPr>
          <a:xfrm>
            <a:off x="822960" y="1965960"/>
            <a:ext cx="73152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POST-TRADE OPERATIONS CASE STUDY</a:t>
            </a:r>
            <a:endParaRPr lang="en-US" sz="1300" dirty="0"/>
          </a:p>
        </p:txBody>
      </p:sp>
      <p:sp>
        <p:nvSpPr>
          <p:cNvPr id="5" name="Text 3"/>
          <p:cNvSpPr txBox="1"/>
          <p:nvPr/>
        </p:nvSpPr>
        <p:spPr>
          <a:xfrm>
            <a:off x="822960" y="2377440"/>
            <a:ext cx="960120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Barclays Post-Trade</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Core Services Transformation</a:t>
            </a:r>
            <a:endParaRPr lang="en-US" sz="4000" dirty="0"/>
          </a:p>
        </p:txBody>
      </p:sp>
      <p:sp>
        <p:nvSpPr>
          <p:cNvPr id="6" name="Text 4"/>
          <p:cNvSpPr txBox="1"/>
          <p:nvPr/>
        </p:nvSpPr>
        <p:spPr>
          <a:xfrm>
            <a:off x="822960" y="416052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How straight-through processing and process orchestration are reshaping settlement operations ahead of T+1</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Is “Post-Trade” &amp; Why It Matters</a:t>
            </a:r>
            <a:endParaRPr lang="en-US" sz="3000" dirty="0"/>
          </a:p>
        </p:txBody>
      </p:sp>
      <p:sp>
        <p:nvSpPr>
          <p:cNvPr id="3" name="Text 1"/>
          <p:cNvSpPr txBox="1"/>
          <p:nvPr/>
        </p:nvSpPr>
        <p:spPr>
          <a:xfrm>
            <a:off x="548640" y="1005840"/>
            <a:ext cx="10058400" cy="365760"/>
          </a:xfrm>
          <a:prstGeom prst="rect">
            <a:avLst/>
          </a:prstGeom>
          <a:noFill/>
          <a:ln/>
        </p:spPr>
        <p:txBody>
          <a:bodyPr wrap="square" lIns="0" tIns="0" rIns="0" bIns="0" rtlCol="0" anchor="ctr"/>
          <a:lstStyle/>
          <a:p>
            <a:pPr marL="0" indent="0">
              <a:buNone/>
            </a:pPr>
            <a:r>
              <a:rPr lang="en-US" sz="1400" dirty="0">
                <a:solidFill>
                  <a:srgbClr val="5B6B94"/>
                </a:solidFill>
                <a:latin typeface="Calibri" pitchFamily="34" charset="0"/>
                <a:ea typeface="Calibri" pitchFamily="34" charset="-122"/>
                <a:cs typeface="Calibri" pitchFamily="34" charset="-120"/>
              </a:rPr>
              <a:t>Everything that happens after a trade is agreed — and where the operational risk actually lives</a:t>
            </a:r>
            <a:endParaRPr lang="en-US" sz="1400" dirty="0"/>
          </a:p>
        </p:txBody>
      </p:sp>
      <p:sp>
        <p:nvSpPr>
          <p:cNvPr id="4" name="Shape 2"/>
          <p:cNvSpPr/>
          <p:nvPr/>
        </p:nvSpPr>
        <p:spPr>
          <a:xfrm>
            <a:off x="548640" y="2011680"/>
            <a:ext cx="2526030" cy="3291840"/>
          </a:xfrm>
          <a:prstGeom prst="roundRect">
            <a:avLst>
              <a:gd name="adj" fmla="val 2896"/>
            </a:avLst>
          </a:prstGeom>
          <a:solidFill>
            <a:srgbClr val="F4F7FD"/>
          </a:solidFill>
          <a:ln/>
        </p:spPr>
        <p:txBody>
          <a:bodyPr/>
          <a:lstStyle/>
          <a:p>
            <a:endParaRPr lang="en-IN"/>
          </a:p>
        </p:txBody>
      </p:sp>
      <p:sp>
        <p:nvSpPr>
          <p:cNvPr id="5" name="Shape 3"/>
          <p:cNvSpPr/>
          <p:nvPr/>
        </p:nvSpPr>
        <p:spPr>
          <a:xfrm>
            <a:off x="1491615" y="2331720"/>
            <a:ext cx="640080" cy="640080"/>
          </a:xfrm>
          <a:prstGeom prst="ellipse">
            <a:avLst/>
          </a:prstGeom>
          <a:solidFill>
            <a:srgbClr val="1E2761"/>
          </a:solidFill>
          <a:ln/>
        </p:spPr>
        <p:txBody>
          <a:bodyPr/>
          <a:lstStyle/>
          <a:p>
            <a:endParaRPr lang="en-IN"/>
          </a:p>
        </p:txBody>
      </p:sp>
      <p:sp>
        <p:nvSpPr>
          <p:cNvPr id="6" name="Text 4"/>
          <p:cNvSpPr txBox="1"/>
          <p:nvPr/>
        </p:nvSpPr>
        <p:spPr>
          <a:xfrm>
            <a:off x="1491615" y="2331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731520" y="3154680"/>
            <a:ext cx="2160270" cy="68580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Clearing</a:t>
            </a:r>
            <a:endParaRPr lang="en-US" sz="1500" dirty="0"/>
          </a:p>
        </p:txBody>
      </p:sp>
      <p:sp>
        <p:nvSpPr>
          <p:cNvPr id="8" name="Text 6"/>
          <p:cNvSpPr txBox="1"/>
          <p:nvPr/>
        </p:nvSpPr>
        <p:spPr>
          <a:xfrm>
            <a:off x="777240" y="3886200"/>
            <a:ext cx="2068830" cy="128016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Confirming trade details and calculating obligations between counterparties</a:t>
            </a:r>
            <a:endParaRPr lang="en-US" sz="1150" dirty="0"/>
          </a:p>
        </p:txBody>
      </p:sp>
      <p:sp>
        <p:nvSpPr>
          <p:cNvPr id="9" name="Shape 7"/>
          <p:cNvSpPr/>
          <p:nvPr/>
        </p:nvSpPr>
        <p:spPr>
          <a:xfrm>
            <a:off x="3394710" y="2011680"/>
            <a:ext cx="2526030" cy="3291840"/>
          </a:xfrm>
          <a:prstGeom prst="roundRect">
            <a:avLst>
              <a:gd name="adj" fmla="val 2896"/>
            </a:avLst>
          </a:prstGeom>
          <a:solidFill>
            <a:srgbClr val="F4F7FD"/>
          </a:solidFill>
          <a:ln/>
        </p:spPr>
        <p:txBody>
          <a:bodyPr/>
          <a:lstStyle/>
          <a:p>
            <a:endParaRPr lang="en-IN"/>
          </a:p>
        </p:txBody>
      </p:sp>
      <p:sp>
        <p:nvSpPr>
          <p:cNvPr id="10" name="Shape 8"/>
          <p:cNvSpPr/>
          <p:nvPr/>
        </p:nvSpPr>
        <p:spPr>
          <a:xfrm>
            <a:off x="4337685" y="2331720"/>
            <a:ext cx="640080" cy="640080"/>
          </a:xfrm>
          <a:prstGeom prst="ellipse">
            <a:avLst/>
          </a:prstGeom>
          <a:solidFill>
            <a:srgbClr val="1E2761"/>
          </a:solidFill>
          <a:ln/>
        </p:spPr>
        <p:txBody>
          <a:bodyPr/>
          <a:lstStyle/>
          <a:p>
            <a:endParaRPr lang="en-IN"/>
          </a:p>
        </p:txBody>
      </p:sp>
      <p:sp>
        <p:nvSpPr>
          <p:cNvPr id="11" name="Text 9"/>
          <p:cNvSpPr txBox="1"/>
          <p:nvPr/>
        </p:nvSpPr>
        <p:spPr>
          <a:xfrm>
            <a:off x="4337685" y="2331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3577590" y="3154680"/>
            <a:ext cx="2160270" cy="68580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Settlement</a:t>
            </a:r>
            <a:endParaRPr lang="en-US" sz="1500" dirty="0"/>
          </a:p>
        </p:txBody>
      </p:sp>
      <p:sp>
        <p:nvSpPr>
          <p:cNvPr id="13" name="Text 11"/>
          <p:cNvSpPr txBox="1"/>
          <p:nvPr/>
        </p:nvSpPr>
        <p:spPr>
          <a:xfrm>
            <a:off x="3623310" y="3886200"/>
            <a:ext cx="2068830" cy="128016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The actual exchange of securities for cash — legal transfer of ownership</a:t>
            </a:r>
            <a:endParaRPr lang="en-US" sz="1150" dirty="0"/>
          </a:p>
        </p:txBody>
      </p:sp>
      <p:sp>
        <p:nvSpPr>
          <p:cNvPr id="14" name="Shape 12"/>
          <p:cNvSpPr/>
          <p:nvPr/>
        </p:nvSpPr>
        <p:spPr>
          <a:xfrm>
            <a:off x="6240780" y="2011680"/>
            <a:ext cx="2526030" cy="3291840"/>
          </a:xfrm>
          <a:prstGeom prst="roundRect">
            <a:avLst>
              <a:gd name="adj" fmla="val 2896"/>
            </a:avLst>
          </a:prstGeom>
          <a:solidFill>
            <a:srgbClr val="F4F7FD"/>
          </a:solidFill>
          <a:ln/>
        </p:spPr>
        <p:txBody>
          <a:bodyPr/>
          <a:lstStyle/>
          <a:p>
            <a:endParaRPr lang="en-IN"/>
          </a:p>
        </p:txBody>
      </p:sp>
      <p:sp>
        <p:nvSpPr>
          <p:cNvPr id="15" name="Shape 13"/>
          <p:cNvSpPr/>
          <p:nvPr/>
        </p:nvSpPr>
        <p:spPr>
          <a:xfrm>
            <a:off x="7183755" y="2331720"/>
            <a:ext cx="640080" cy="640080"/>
          </a:xfrm>
          <a:prstGeom prst="ellipse">
            <a:avLst/>
          </a:prstGeom>
          <a:solidFill>
            <a:srgbClr val="1E2761"/>
          </a:solidFill>
          <a:ln/>
        </p:spPr>
        <p:txBody>
          <a:bodyPr/>
          <a:lstStyle/>
          <a:p>
            <a:endParaRPr lang="en-IN"/>
          </a:p>
        </p:txBody>
      </p:sp>
      <p:sp>
        <p:nvSpPr>
          <p:cNvPr id="16" name="Text 14"/>
          <p:cNvSpPr txBox="1"/>
          <p:nvPr/>
        </p:nvSpPr>
        <p:spPr>
          <a:xfrm>
            <a:off x="7183755" y="2331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6423660" y="3154680"/>
            <a:ext cx="2160270" cy="68580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Custody &amp; Asset Servicing</a:t>
            </a:r>
            <a:endParaRPr lang="en-US" sz="1500" dirty="0"/>
          </a:p>
        </p:txBody>
      </p:sp>
      <p:sp>
        <p:nvSpPr>
          <p:cNvPr id="18" name="Text 16"/>
          <p:cNvSpPr txBox="1"/>
          <p:nvPr/>
        </p:nvSpPr>
        <p:spPr>
          <a:xfrm>
            <a:off x="6469380" y="3886200"/>
            <a:ext cx="2068830" cy="128016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Safekeeping securities and managing corporate actions, dividends, interest</a:t>
            </a:r>
            <a:endParaRPr lang="en-US" sz="1150" dirty="0"/>
          </a:p>
        </p:txBody>
      </p:sp>
      <p:sp>
        <p:nvSpPr>
          <p:cNvPr id="19" name="Shape 17"/>
          <p:cNvSpPr/>
          <p:nvPr/>
        </p:nvSpPr>
        <p:spPr>
          <a:xfrm>
            <a:off x="9086850" y="2011680"/>
            <a:ext cx="2526030" cy="3291840"/>
          </a:xfrm>
          <a:prstGeom prst="roundRect">
            <a:avLst>
              <a:gd name="adj" fmla="val 2896"/>
            </a:avLst>
          </a:prstGeom>
          <a:solidFill>
            <a:srgbClr val="F4F7FD"/>
          </a:solidFill>
          <a:ln/>
        </p:spPr>
        <p:txBody>
          <a:bodyPr/>
          <a:lstStyle/>
          <a:p>
            <a:endParaRPr lang="en-IN"/>
          </a:p>
        </p:txBody>
      </p:sp>
      <p:sp>
        <p:nvSpPr>
          <p:cNvPr id="20" name="Shape 18"/>
          <p:cNvSpPr/>
          <p:nvPr/>
        </p:nvSpPr>
        <p:spPr>
          <a:xfrm>
            <a:off x="10029825" y="2331720"/>
            <a:ext cx="640080" cy="640080"/>
          </a:xfrm>
          <a:prstGeom prst="ellipse">
            <a:avLst/>
          </a:prstGeom>
          <a:solidFill>
            <a:srgbClr val="1E2761"/>
          </a:solidFill>
          <a:ln/>
        </p:spPr>
        <p:txBody>
          <a:bodyPr/>
          <a:lstStyle/>
          <a:p>
            <a:endParaRPr lang="en-IN"/>
          </a:p>
        </p:txBody>
      </p:sp>
      <p:sp>
        <p:nvSpPr>
          <p:cNvPr id="21" name="Text 19"/>
          <p:cNvSpPr txBox="1"/>
          <p:nvPr/>
        </p:nvSpPr>
        <p:spPr>
          <a:xfrm>
            <a:off x="10029825" y="2331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9269730" y="3154680"/>
            <a:ext cx="2160270" cy="68580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Reporting</a:t>
            </a:r>
            <a:endParaRPr lang="en-US" sz="1500" dirty="0"/>
          </a:p>
        </p:txBody>
      </p:sp>
      <p:sp>
        <p:nvSpPr>
          <p:cNvPr id="23" name="Text 21"/>
          <p:cNvSpPr txBox="1"/>
          <p:nvPr/>
        </p:nvSpPr>
        <p:spPr>
          <a:xfrm>
            <a:off x="9315450" y="3886200"/>
            <a:ext cx="2068830" cy="128016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Regulatory and client reporting on positions, transactions, and exposures</a:t>
            </a:r>
            <a:endParaRPr lang="en-US" sz="1150" dirty="0"/>
          </a:p>
        </p:txBody>
      </p:sp>
      <p:sp>
        <p:nvSpPr>
          <p:cNvPr id="24" name="Text 22"/>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B94"/>
                </a:solidFill>
                <a:latin typeface="Calibri" pitchFamily="34" charset="0"/>
                <a:ea typeface="Calibri" pitchFamily="34" charset="-122"/>
                <a:cs typeface="Calibri" pitchFamily="34" charset="-120"/>
              </a:rPr>
              <a:t>Barclays Post-Trade Transformation</a:t>
            </a:r>
            <a:endParaRPr lang="en-US" sz="900" dirty="0"/>
          </a:p>
        </p:txBody>
      </p:sp>
      <p:sp>
        <p:nvSpPr>
          <p:cNvPr id="25" name="Text 23"/>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Problem at Barclays</a:t>
            </a:r>
            <a:endParaRPr lang="en-US" sz="3000" dirty="0"/>
          </a:p>
        </p:txBody>
      </p:sp>
      <p:sp>
        <p:nvSpPr>
          <p:cNvPr id="3" name="Text 1"/>
          <p:cNvSpPr txBox="1"/>
          <p:nvPr/>
        </p:nvSpPr>
        <p:spPr>
          <a:xfrm>
            <a:off x="548640" y="1005840"/>
            <a:ext cx="10241280" cy="365760"/>
          </a:xfrm>
          <a:prstGeom prst="rect">
            <a:avLst/>
          </a:prstGeom>
          <a:noFill/>
          <a:ln/>
        </p:spPr>
        <p:txBody>
          <a:bodyPr wrap="square" lIns="0" tIns="0" rIns="0" bIns="0" rtlCol="0" anchor="ctr"/>
          <a:lstStyle/>
          <a:p>
            <a:pPr marL="0" indent="0">
              <a:buNone/>
            </a:pPr>
            <a:r>
              <a:rPr lang="en-US" sz="1350" dirty="0">
                <a:solidFill>
                  <a:srgbClr val="CADCFC"/>
                </a:solidFill>
                <a:latin typeface="Calibri" pitchFamily="34" charset="0"/>
                <a:ea typeface="Calibri" pitchFamily="34" charset="-122"/>
                <a:cs typeface="Calibri" pitchFamily="34" charset="-120"/>
              </a:rPr>
              <a:t>Legacy infrastructure was creating operational drag — in the words of Barclays’ own operations leadership</a:t>
            </a:r>
            <a:endParaRPr lang="en-US" sz="1350" dirty="0"/>
          </a:p>
        </p:txBody>
      </p:sp>
      <p:sp>
        <p:nvSpPr>
          <p:cNvPr id="4" name="Shape 2"/>
          <p:cNvSpPr/>
          <p:nvPr/>
        </p:nvSpPr>
        <p:spPr>
          <a:xfrm>
            <a:off x="548640" y="1600200"/>
            <a:ext cx="10881360" cy="1371600"/>
          </a:xfrm>
          <a:prstGeom prst="roundRect">
            <a:avLst>
              <a:gd name="adj" fmla="val 4000"/>
            </a:avLst>
          </a:prstGeom>
          <a:solidFill>
            <a:srgbClr val="141A47"/>
          </a:solidFill>
          <a:ln/>
        </p:spPr>
        <p:txBody>
          <a:bodyPr/>
          <a:lstStyle/>
          <a:p>
            <a:endParaRPr lang="en-IN"/>
          </a:p>
        </p:txBody>
      </p:sp>
      <p:sp>
        <p:nvSpPr>
          <p:cNvPr id="5" name="Text 3"/>
          <p:cNvSpPr txBox="1"/>
          <p:nvPr/>
        </p:nvSpPr>
        <p:spPr>
          <a:xfrm>
            <a:off x="868680" y="1737360"/>
            <a:ext cx="10241280" cy="914400"/>
          </a:xfrm>
          <a:prstGeom prst="rect">
            <a:avLst/>
          </a:prstGeom>
          <a:noFill/>
          <a:ln/>
        </p:spPr>
        <p:txBody>
          <a:bodyPr wrap="square" lIns="0" tIns="0" rIns="0" bIns="0" rtlCol="0" anchor="ctr"/>
          <a:lstStyle/>
          <a:p>
            <a:pPr marL="0" indent="0">
              <a:buNone/>
            </a:pPr>
            <a:r>
              <a:rPr lang="en-US" sz="1450" i="1" dirty="0">
                <a:solidFill>
                  <a:srgbClr val="FFFFFF"/>
                </a:solidFill>
                <a:latin typeface="Cambria" pitchFamily="34" charset="0"/>
                <a:ea typeface="Cambria" pitchFamily="34" charset="-122"/>
                <a:cs typeface="Cambria" pitchFamily="34" charset="-120"/>
              </a:rPr>
              <a:t>“Lack of straight-through processing and an environment of exceptions, and then having to do reconciliations and resolve breaks — which is very time-consuming — takes the focus away from settlements and the efficiency around it.”</a:t>
            </a:r>
            <a:endParaRPr lang="en-US" sz="1450" dirty="0"/>
          </a:p>
        </p:txBody>
      </p:sp>
      <p:sp>
        <p:nvSpPr>
          <p:cNvPr id="6" name="Text 4"/>
          <p:cNvSpPr txBox="1"/>
          <p:nvPr/>
        </p:nvSpPr>
        <p:spPr>
          <a:xfrm>
            <a:off x="868680" y="2651760"/>
            <a:ext cx="9144000" cy="274320"/>
          </a:xfrm>
          <a:prstGeom prst="rect">
            <a:avLst/>
          </a:prstGeom>
          <a:noFill/>
          <a:ln/>
        </p:spPr>
        <p:txBody>
          <a:bodyPr wrap="square" lIns="0" tIns="0" rIns="0" bIns="0" rtlCol="0" anchor="ctr"/>
          <a:lstStyle/>
          <a:p>
            <a:pPr marL="0" indent="0">
              <a:buNone/>
            </a:pPr>
            <a:r>
              <a:rPr lang="en-US" sz="1050" dirty="0">
                <a:solidFill>
                  <a:srgbClr val="E8A33D"/>
                </a:solidFill>
                <a:latin typeface="Calibri" pitchFamily="34" charset="0"/>
                <a:ea typeface="Calibri" pitchFamily="34" charset="-122"/>
                <a:cs typeface="Calibri" pitchFamily="34" charset="-120"/>
              </a:rPr>
              <a:t>— Shakir Ahmed, Director of Operations Technology &amp; Strategy, Barclays</a:t>
            </a:r>
            <a:endParaRPr lang="en-US" sz="1050" dirty="0"/>
          </a:p>
        </p:txBody>
      </p:sp>
      <p:sp>
        <p:nvSpPr>
          <p:cNvPr id="7" name="Shape 5"/>
          <p:cNvSpPr/>
          <p:nvPr/>
        </p:nvSpPr>
        <p:spPr>
          <a:xfrm>
            <a:off x="548640" y="3337560"/>
            <a:ext cx="320040" cy="320040"/>
          </a:xfrm>
          <a:prstGeom prst="roundRect">
            <a:avLst>
              <a:gd name="adj" fmla="val 100000"/>
            </a:avLst>
          </a:prstGeom>
          <a:solidFill>
            <a:srgbClr val="E8A33D"/>
          </a:solidFill>
          <a:ln/>
        </p:spPr>
        <p:txBody>
          <a:bodyPr/>
          <a:lstStyle/>
          <a:p>
            <a:endParaRPr lang="en-IN"/>
          </a:p>
        </p:txBody>
      </p:sp>
      <p:sp>
        <p:nvSpPr>
          <p:cNvPr id="8" name="Text 6"/>
          <p:cNvSpPr txBox="1"/>
          <p:nvPr/>
        </p:nvSpPr>
        <p:spPr>
          <a:xfrm>
            <a:off x="548640" y="3337560"/>
            <a:ext cx="32004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1051560" y="3310128"/>
            <a:ext cx="996696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Monolithic legacy systems, hard and costly to support</a:t>
            </a:r>
            <a:endParaRPr lang="en-US" sz="1400" dirty="0"/>
          </a:p>
        </p:txBody>
      </p:sp>
      <p:sp>
        <p:nvSpPr>
          <p:cNvPr id="10" name="Shape 8"/>
          <p:cNvSpPr/>
          <p:nvPr/>
        </p:nvSpPr>
        <p:spPr>
          <a:xfrm>
            <a:off x="548640" y="4105656"/>
            <a:ext cx="320040" cy="320040"/>
          </a:xfrm>
          <a:prstGeom prst="roundRect">
            <a:avLst>
              <a:gd name="adj" fmla="val 100000"/>
            </a:avLst>
          </a:prstGeom>
          <a:solidFill>
            <a:srgbClr val="E8A33D"/>
          </a:solidFill>
          <a:ln/>
        </p:spPr>
        <p:txBody>
          <a:bodyPr/>
          <a:lstStyle/>
          <a:p>
            <a:endParaRPr lang="en-IN"/>
          </a:p>
        </p:txBody>
      </p:sp>
      <p:sp>
        <p:nvSpPr>
          <p:cNvPr id="11" name="Text 9"/>
          <p:cNvSpPr txBox="1"/>
          <p:nvPr/>
        </p:nvSpPr>
        <p:spPr>
          <a:xfrm>
            <a:off x="548640" y="4105656"/>
            <a:ext cx="32004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1051560" y="4078224"/>
            <a:ext cx="996696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patchwork of vendor platforms rather than one coherent stack</a:t>
            </a:r>
            <a:endParaRPr lang="en-US" sz="1400" dirty="0"/>
          </a:p>
        </p:txBody>
      </p:sp>
      <p:sp>
        <p:nvSpPr>
          <p:cNvPr id="13" name="Shape 11"/>
          <p:cNvSpPr/>
          <p:nvPr/>
        </p:nvSpPr>
        <p:spPr>
          <a:xfrm>
            <a:off x="548640" y="4873752"/>
            <a:ext cx="320040" cy="320040"/>
          </a:xfrm>
          <a:prstGeom prst="roundRect">
            <a:avLst>
              <a:gd name="adj" fmla="val 100000"/>
            </a:avLst>
          </a:prstGeom>
          <a:solidFill>
            <a:srgbClr val="E8A33D"/>
          </a:solidFill>
          <a:ln/>
        </p:spPr>
        <p:txBody>
          <a:bodyPr/>
          <a:lstStyle/>
          <a:p>
            <a:endParaRPr lang="en-IN"/>
          </a:p>
        </p:txBody>
      </p:sp>
      <p:sp>
        <p:nvSpPr>
          <p:cNvPr id="14" name="Text 12"/>
          <p:cNvSpPr txBox="1"/>
          <p:nvPr/>
        </p:nvSpPr>
        <p:spPr>
          <a:xfrm>
            <a:off x="548640" y="4873752"/>
            <a:ext cx="32004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051560" y="4846320"/>
            <a:ext cx="996696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Expensive and slow to adapt to new regulation and rising volumes</a:t>
            </a:r>
            <a:endParaRPr lang="en-US" sz="1400" dirty="0"/>
          </a:p>
        </p:txBody>
      </p:sp>
      <p:sp>
        <p:nvSpPr>
          <p:cNvPr id="16" name="Shape 14"/>
          <p:cNvSpPr/>
          <p:nvPr/>
        </p:nvSpPr>
        <p:spPr>
          <a:xfrm>
            <a:off x="548640" y="5641848"/>
            <a:ext cx="320040" cy="320040"/>
          </a:xfrm>
          <a:prstGeom prst="roundRect">
            <a:avLst>
              <a:gd name="adj" fmla="val 100000"/>
            </a:avLst>
          </a:prstGeom>
          <a:solidFill>
            <a:srgbClr val="E8A33D"/>
          </a:solidFill>
          <a:ln/>
        </p:spPr>
        <p:txBody>
          <a:bodyPr/>
          <a:lstStyle/>
          <a:p>
            <a:endParaRPr lang="en-IN"/>
          </a:p>
        </p:txBody>
      </p:sp>
      <p:sp>
        <p:nvSpPr>
          <p:cNvPr id="17" name="Text 15"/>
          <p:cNvSpPr txBox="1"/>
          <p:nvPr/>
        </p:nvSpPr>
        <p:spPr>
          <a:xfrm>
            <a:off x="548640" y="5641848"/>
            <a:ext cx="32004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1051560" y="5614416"/>
            <a:ext cx="996696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Exceptions traced manually across siloed systems</a:t>
            </a:r>
            <a:endParaRPr lang="en-US" sz="1400" dirty="0"/>
          </a:p>
        </p:txBody>
      </p:sp>
      <p:sp>
        <p:nvSpPr>
          <p:cNvPr id="19" name="Text 17"/>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8B9BC7"/>
                </a:solidFill>
                <a:latin typeface="Calibri" pitchFamily="34" charset="0"/>
                <a:ea typeface="Calibri" pitchFamily="34" charset="-122"/>
                <a:cs typeface="Calibri" pitchFamily="34" charset="-120"/>
              </a:rPr>
              <a:t>Barclays Post-Trade Transformation</a:t>
            </a:r>
            <a:endParaRPr lang="en-US" sz="900" dirty="0"/>
          </a:p>
        </p:txBody>
      </p:sp>
      <p:sp>
        <p:nvSpPr>
          <p:cNvPr id="20" name="Text 18"/>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8B9BC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Before vs. After: The Transformation</a:t>
            </a:r>
            <a:endParaRPr lang="en-US" sz="3000" dirty="0"/>
          </a:p>
        </p:txBody>
      </p:sp>
      <p:sp>
        <p:nvSpPr>
          <p:cNvPr id="3" name="Text 1"/>
          <p:cNvSpPr txBox="1"/>
          <p:nvPr/>
        </p:nvSpPr>
        <p:spPr>
          <a:xfrm>
            <a:off x="548640" y="1005840"/>
            <a:ext cx="10241280" cy="365760"/>
          </a:xfrm>
          <a:prstGeom prst="rect">
            <a:avLst/>
          </a:prstGeom>
          <a:noFill/>
          <a:ln/>
        </p:spPr>
        <p:txBody>
          <a:bodyPr wrap="square" lIns="0" tIns="0" rIns="0" bIns="0" rtlCol="0" anchor="ctr"/>
          <a:lstStyle/>
          <a:p>
            <a:pPr marL="0" indent="0">
              <a:buNone/>
            </a:pPr>
            <a:r>
              <a:rPr lang="en-US" sz="1400" dirty="0">
                <a:solidFill>
                  <a:srgbClr val="5B6B94"/>
                </a:solidFill>
                <a:latin typeface="Calibri" pitchFamily="34" charset="0"/>
                <a:ea typeface="Calibri" pitchFamily="34" charset="-122"/>
                <a:cs typeface="Calibri" pitchFamily="34" charset="-120"/>
              </a:rPr>
              <a:t>From monolithic, exception-heavy settlement to orchestrated, transparent processing</a:t>
            </a:r>
            <a:endParaRPr lang="en-US" sz="1400" dirty="0"/>
          </a:p>
        </p:txBody>
      </p:sp>
      <p:sp>
        <p:nvSpPr>
          <p:cNvPr id="4" name="Shape 2"/>
          <p:cNvSpPr/>
          <p:nvPr/>
        </p:nvSpPr>
        <p:spPr>
          <a:xfrm>
            <a:off x="548640" y="1874520"/>
            <a:ext cx="5166360" cy="4114800"/>
          </a:xfrm>
          <a:prstGeom prst="roundRect">
            <a:avLst>
              <a:gd name="adj" fmla="val 1778"/>
            </a:avLst>
          </a:prstGeom>
          <a:solidFill>
            <a:srgbClr val="F4F7FD"/>
          </a:solidFill>
          <a:ln/>
        </p:spPr>
        <p:txBody>
          <a:bodyPr/>
          <a:lstStyle/>
          <a:p>
            <a:endParaRPr lang="en-IN"/>
          </a:p>
        </p:txBody>
      </p:sp>
      <p:sp>
        <p:nvSpPr>
          <p:cNvPr id="5" name="Text 3"/>
          <p:cNvSpPr txBox="1"/>
          <p:nvPr/>
        </p:nvSpPr>
        <p:spPr>
          <a:xfrm>
            <a:off x="822960" y="2103120"/>
            <a:ext cx="3657600" cy="365760"/>
          </a:xfrm>
          <a:prstGeom prst="rect">
            <a:avLst/>
          </a:prstGeom>
          <a:noFill/>
          <a:ln/>
        </p:spPr>
        <p:txBody>
          <a:bodyPr wrap="square" lIns="0" tIns="0" rIns="0" bIns="0" rtlCol="0" anchor="ctr"/>
          <a:lstStyle/>
          <a:p>
            <a:pPr marL="0" indent="0">
              <a:buNone/>
            </a:pPr>
            <a:r>
              <a:rPr lang="en-US" sz="1300" b="1" kern="0" spc="200" dirty="0">
                <a:solidFill>
                  <a:srgbClr val="5B6B94"/>
                </a:solidFill>
                <a:latin typeface="Calibri" pitchFamily="34" charset="0"/>
                <a:ea typeface="Calibri" pitchFamily="34" charset="-122"/>
                <a:cs typeface="Calibri" pitchFamily="34" charset="-120"/>
              </a:rPr>
              <a:t>BEFORE</a:t>
            </a:r>
            <a:endParaRPr lang="en-US" sz="1300" dirty="0"/>
          </a:p>
        </p:txBody>
      </p:sp>
      <p:sp>
        <p:nvSpPr>
          <p:cNvPr id="6" name="Shape 4"/>
          <p:cNvSpPr/>
          <p:nvPr/>
        </p:nvSpPr>
        <p:spPr>
          <a:xfrm>
            <a:off x="822960" y="2679192"/>
            <a:ext cx="128016" cy="128016"/>
          </a:xfrm>
          <a:prstGeom prst="ellipse">
            <a:avLst/>
          </a:prstGeom>
          <a:solidFill>
            <a:srgbClr val="5B6B94"/>
          </a:solidFill>
          <a:ln/>
        </p:spPr>
        <p:txBody>
          <a:bodyPr/>
          <a:lstStyle/>
          <a:p>
            <a:endParaRPr lang="en-IN"/>
          </a:p>
        </p:txBody>
      </p:sp>
      <p:sp>
        <p:nvSpPr>
          <p:cNvPr id="7" name="Text 5"/>
          <p:cNvSpPr txBox="1"/>
          <p:nvPr/>
        </p:nvSpPr>
        <p:spPr>
          <a:xfrm>
            <a:off x="1097280" y="2532888"/>
            <a:ext cx="448056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Monolithic legacy platforms + patchwork vendors</a:t>
            </a:r>
            <a:endParaRPr lang="en-US" sz="1300" dirty="0"/>
          </a:p>
        </p:txBody>
      </p:sp>
      <p:sp>
        <p:nvSpPr>
          <p:cNvPr id="8" name="Shape 6"/>
          <p:cNvSpPr/>
          <p:nvPr/>
        </p:nvSpPr>
        <p:spPr>
          <a:xfrm>
            <a:off x="822960" y="3300984"/>
            <a:ext cx="128016" cy="128016"/>
          </a:xfrm>
          <a:prstGeom prst="ellipse">
            <a:avLst/>
          </a:prstGeom>
          <a:solidFill>
            <a:srgbClr val="5B6B94"/>
          </a:solidFill>
          <a:ln/>
        </p:spPr>
        <p:txBody>
          <a:bodyPr/>
          <a:lstStyle/>
          <a:p>
            <a:endParaRPr lang="en-IN"/>
          </a:p>
        </p:txBody>
      </p:sp>
      <p:sp>
        <p:nvSpPr>
          <p:cNvPr id="9" name="Text 7"/>
          <p:cNvSpPr txBox="1"/>
          <p:nvPr/>
        </p:nvSpPr>
        <p:spPr>
          <a:xfrm>
            <a:off x="1097280" y="3154680"/>
            <a:ext cx="448056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Manual reconciliation of breaks and exceptions</a:t>
            </a:r>
            <a:endParaRPr lang="en-US" sz="1300" dirty="0"/>
          </a:p>
        </p:txBody>
      </p:sp>
      <p:sp>
        <p:nvSpPr>
          <p:cNvPr id="10" name="Shape 8"/>
          <p:cNvSpPr/>
          <p:nvPr/>
        </p:nvSpPr>
        <p:spPr>
          <a:xfrm>
            <a:off x="822960" y="3922776"/>
            <a:ext cx="128016" cy="128016"/>
          </a:xfrm>
          <a:prstGeom prst="ellipse">
            <a:avLst/>
          </a:prstGeom>
          <a:solidFill>
            <a:srgbClr val="5B6B94"/>
          </a:solidFill>
          <a:ln/>
        </p:spPr>
        <p:txBody>
          <a:bodyPr/>
          <a:lstStyle/>
          <a:p>
            <a:endParaRPr lang="en-IN"/>
          </a:p>
        </p:txBody>
      </p:sp>
      <p:sp>
        <p:nvSpPr>
          <p:cNvPr id="11" name="Text 9"/>
          <p:cNvSpPr txBox="1"/>
          <p:nvPr/>
        </p:nvSpPr>
        <p:spPr>
          <a:xfrm>
            <a:off x="1097280" y="3776472"/>
            <a:ext cx="448056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Trades hard to trace once stuck mid-lifecycle</a:t>
            </a:r>
            <a:endParaRPr lang="en-US" sz="1300" dirty="0"/>
          </a:p>
        </p:txBody>
      </p:sp>
      <p:sp>
        <p:nvSpPr>
          <p:cNvPr id="12" name="Shape 10"/>
          <p:cNvSpPr/>
          <p:nvPr/>
        </p:nvSpPr>
        <p:spPr>
          <a:xfrm>
            <a:off x="822960" y="4544568"/>
            <a:ext cx="128016" cy="128016"/>
          </a:xfrm>
          <a:prstGeom prst="ellipse">
            <a:avLst/>
          </a:prstGeom>
          <a:solidFill>
            <a:srgbClr val="5B6B94"/>
          </a:solidFill>
          <a:ln/>
        </p:spPr>
        <p:txBody>
          <a:bodyPr/>
          <a:lstStyle/>
          <a:p>
            <a:endParaRPr lang="en-IN"/>
          </a:p>
        </p:txBody>
      </p:sp>
      <p:sp>
        <p:nvSpPr>
          <p:cNvPr id="13" name="Text 11"/>
          <p:cNvSpPr txBox="1"/>
          <p:nvPr/>
        </p:nvSpPr>
        <p:spPr>
          <a:xfrm>
            <a:off x="1097280" y="4398264"/>
            <a:ext cx="448056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Slow, costly to adapt to new regulation</a:t>
            </a:r>
            <a:endParaRPr lang="en-US" sz="1300" dirty="0"/>
          </a:p>
        </p:txBody>
      </p:sp>
      <p:sp>
        <p:nvSpPr>
          <p:cNvPr id="14" name="Shape 12"/>
          <p:cNvSpPr/>
          <p:nvPr/>
        </p:nvSpPr>
        <p:spPr>
          <a:xfrm>
            <a:off x="822960" y="5166360"/>
            <a:ext cx="128016" cy="128016"/>
          </a:xfrm>
          <a:prstGeom prst="ellipse">
            <a:avLst/>
          </a:prstGeom>
          <a:solidFill>
            <a:srgbClr val="5B6B94"/>
          </a:solidFill>
          <a:ln/>
        </p:spPr>
        <p:txBody>
          <a:bodyPr/>
          <a:lstStyle/>
          <a:p>
            <a:endParaRPr lang="en-IN"/>
          </a:p>
        </p:txBody>
      </p:sp>
      <p:sp>
        <p:nvSpPr>
          <p:cNvPr id="15" name="Text 13"/>
          <p:cNvSpPr txBox="1"/>
          <p:nvPr/>
        </p:nvSpPr>
        <p:spPr>
          <a:xfrm>
            <a:off x="1097280" y="5020056"/>
            <a:ext cx="448056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Risk-prone under rising trade volumes</a:t>
            </a:r>
            <a:endParaRPr lang="en-US" sz="1300" dirty="0"/>
          </a:p>
        </p:txBody>
      </p:sp>
      <p:sp>
        <p:nvSpPr>
          <p:cNvPr id="16" name="Shape 14"/>
          <p:cNvSpPr/>
          <p:nvPr/>
        </p:nvSpPr>
        <p:spPr>
          <a:xfrm>
            <a:off x="6263640" y="1874520"/>
            <a:ext cx="5166360" cy="4114800"/>
          </a:xfrm>
          <a:prstGeom prst="roundRect">
            <a:avLst>
              <a:gd name="adj" fmla="val 1778"/>
            </a:avLst>
          </a:prstGeom>
          <a:solidFill>
            <a:srgbClr val="1E2761"/>
          </a:solidFill>
          <a:ln/>
        </p:spPr>
        <p:txBody>
          <a:bodyPr/>
          <a:lstStyle/>
          <a:p>
            <a:endParaRPr lang="en-IN"/>
          </a:p>
        </p:txBody>
      </p:sp>
      <p:sp>
        <p:nvSpPr>
          <p:cNvPr id="17" name="Text 15"/>
          <p:cNvSpPr txBox="1"/>
          <p:nvPr/>
        </p:nvSpPr>
        <p:spPr>
          <a:xfrm>
            <a:off x="6537960" y="2103120"/>
            <a:ext cx="36576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AFTER</a:t>
            </a:r>
            <a:endParaRPr lang="en-US" sz="1300" dirty="0"/>
          </a:p>
        </p:txBody>
      </p:sp>
      <p:sp>
        <p:nvSpPr>
          <p:cNvPr id="18" name="Shape 16"/>
          <p:cNvSpPr/>
          <p:nvPr/>
        </p:nvSpPr>
        <p:spPr>
          <a:xfrm>
            <a:off x="6537960" y="2679192"/>
            <a:ext cx="128016" cy="128016"/>
          </a:xfrm>
          <a:prstGeom prst="ellipse">
            <a:avLst/>
          </a:prstGeom>
          <a:solidFill>
            <a:srgbClr val="E8A33D"/>
          </a:solidFill>
          <a:ln/>
        </p:spPr>
        <p:txBody>
          <a:bodyPr/>
          <a:lstStyle/>
          <a:p>
            <a:endParaRPr lang="en-IN"/>
          </a:p>
        </p:txBody>
      </p:sp>
      <p:sp>
        <p:nvSpPr>
          <p:cNvPr id="19" name="Text 17"/>
          <p:cNvSpPr txBox="1"/>
          <p:nvPr/>
        </p:nvSpPr>
        <p:spPr>
          <a:xfrm>
            <a:off x="6812280" y="2532888"/>
            <a:ext cx="44805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Orchestrated microservices (“Settlements-as-a-Service”)</a:t>
            </a:r>
            <a:endParaRPr lang="en-US" sz="1300" dirty="0"/>
          </a:p>
        </p:txBody>
      </p:sp>
      <p:sp>
        <p:nvSpPr>
          <p:cNvPr id="20" name="Shape 18"/>
          <p:cNvSpPr/>
          <p:nvPr/>
        </p:nvSpPr>
        <p:spPr>
          <a:xfrm>
            <a:off x="6537960" y="3300984"/>
            <a:ext cx="128016" cy="128016"/>
          </a:xfrm>
          <a:prstGeom prst="ellipse">
            <a:avLst/>
          </a:prstGeom>
          <a:solidFill>
            <a:srgbClr val="E8A33D"/>
          </a:solidFill>
          <a:ln/>
        </p:spPr>
        <p:txBody>
          <a:bodyPr/>
          <a:lstStyle/>
          <a:p>
            <a:endParaRPr lang="en-IN"/>
          </a:p>
        </p:txBody>
      </p:sp>
      <p:sp>
        <p:nvSpPr>
          <p:cNvPr id="21" name="Text 19"/>
          <p:cNvSpPr txBox="1"/>
          <p:nvPr/>
        </p:nvSpPr>
        <p:spPr>
          <a:xfrm>
            <a:off x="6812280" y="3154680"/>
            <a:ext cx="44805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End-to-end visibility across the trade lifecycle</a:t>
            </a:r>
            <a:endParaRPr lang="en-US" sz="1300" dirty="0"/>
          </a:p>
        </p:txBody>
      </p:sp>
      <p:sp>
        <p:nvSpPr>
          <p:cNvPr id="22" name="Shape 20"/>
          <p:cNvSpPr/>
          <p:nvPr/>
        </p:nvSpPr>
        <p:spPr>
          <a:xfrm>
            <a:off x="6537960" y="3922776"/>
            <a:ext cx="128016" cy="128016"/>
          </a:xfrm>
          <a:prstGeom prst="ellipse">
            <a:avLst/>
          </a:prstGeom>
          <a:solidFill>
            <a:srgbClr val="E8A33D"/>
          </a:solidFill>
          <a:ln/>
        </p:spPr>
        <p:txBody>
          <a:bodyPr/>
          <a:lstStyle/>
          <a:p>
            <a:endParaRPr lang="en-IN"/>
          </a:p>
        </p:txBody>
      </p:sp>
      <p:sp>
        <p:nvSpPr>
          <p:cNvPr id="23" name="Text 21"/>
          <p:cNvSpPr txBox="1"/>
          <p:nvPr/>
        </p:nvSpPr>
        <p:spPr>
          <a:xfrm>
            <a:off x="6812280" y="3776472"/>
            <a:ext cx="44805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Click into a failed step, see why, replay instantly</a:t>
            </a:r>
            <a:endParaRPr lang="en-US" sz="1300" dirty="0"/>
          </a:p>
        </p:txBody>
      </p:sp>
      <p:sp>
        <p:nvSpPr>
          <p:cNvPr id="24" name="Shape 22"/>
          <p:cNvSpPr/>
          <p:nvPr/>
        </p:nvSpPr>
        <p:spPr>
          <a:xfrm>
            <a:off x="6537960" y="4544568"/>
            <a:ext cx="128016" cy="128016"/>
          </a:xfrm>
          <a:prstGeom prst="ellipse">
            <a:avLst/>
          </a:prstGeom>
          <a:solidFill>
            <a:srgbClr val="E8A33D"/>
          </a:solidFill>
          <a:ln/>
        </p:spPr>
        <p:txBody>
          <a:bodyPr/>
          <a:lstStyle/>
          <a:p>
            <a:endParaRPr lang="en-IN"/>
          </a:p>
        </p:txBody>
      </p:sp>
      <p:sp>
        <p:nvSpPr>
          <p:cNvPr id="25" name="Text 23"/>
          <p:cNvSpPr txBox="1"/>
          <p:nvPr/>
        </p:nvSpPr>
        <p:spPr>
          <a:xfrm>
            <a:off x="6812280" y="4398264"/>
            <a:ext cx="44805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Built to scale from ~35,000 to ~500,000 settlements/day</a:t>
            </a:r>
            <a:endParaRPr lang="en-US" sz="1300" dirty="0"/>
          </a:p>
        </p:txBody>
      </p:sp>
      <p:sp>
        <p:nvSpPr>
          <p:cNvPr id="26" name="Shape 24"/>
          <p:cNvSpPr/>
          <p:nvPr/>
        </p:nvSpPr>
        <p:spPr>
          <a:xfrm>
            <a:off x="6537960" y="5166360"/>
            <a:ext cx="128016" cy="128016"/>
          </a:xfrm>
          <a:prstGeom prst="ellipse">
            <a:avLst/>
          </a:prstGeom>
          <a:solidFill>
            <a:srgbClr val="E8A33D"/>
          </a:solidFill>
          <a:ln/>
        </p:spPr>
        <p:txBody>
          <a:bodyPr/>
          <a:lstStyle/>
          <a:p>
            <a:endParaRPr lang="en-IN"/>
          </a:p>
        </p:txBody>
      </p:sp>
      <p:sp>
        <p:nvSpPr>
          <p:cNvPr id="27" name="Text 25"/>
          <p:cNvSpPr txBox="1"/>
          <p:nvPr/>
        </p:nvSpPr>
        <p:spPr>
          <a:xfrm>
            <a:off x="6812280" y="5020056"/>
            <a:ext cx="44805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Faster adaptation to regulatory change (e.g., T+1)</a:t>
            </a:r>
            <a:endParaRPr lang="en-US" sz="1300" dirty="0"/>
          </a:p>
        </p:txBody>
      </p:sp>
      <p:sp>
        <p:nvSpPr>
          <p:cNvPr id="28" name="Text 26"/>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B94"/>
                </a:solidFill>
                <a:latin typeface="Calibri" pitchFamily="34" charset="0"/>
                <a:ea typeface="Calibri" pitchFamily="34" charset="-122"/>
                <a:cs typeface="Calibri" pitchFamily="34" charset="-120"/>
              </a:rPr>
              <a:t>Barclays Post-Trade Transformation</a:t>
            </a:r>
            <a:endParaRPr lang="en-US" sz="900" dirty="0"/>
          </a:p>
        </p:txBody>
      </p:sp>
      <p:sp>
        <p:nvSpPr>
          <p:cNvPr id="29" name="Text 27"/>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Solution: Orchestrating the Trade Lifecycle</a:t>
            </a:r>
            <a:endParaRPr lang="en-US" sz="2800" dirty="0"/>
          </a:p>
        </p:txBody>
      </p:sp>
      <p:sp>
        <p:nvSpPr>
          <p:cNvPr id="3" name="Text 1"/>
          <p:cNvSpPr txBox="1"/>
          <p:nvPr/>
        </p:nvSpPr>
        <p:spPr>
          <a:xfrm>
            <a:off x="548640" y="1005840"/>
            <a:ext cx="10515600" cy="365760"/>
          </a:xfrm>
          <a:prstGeom prst="rect">
            <a:avLst/>
          </a:prstGeom>
          <a:noFill/>
          <a:ln/>
        </p:spPr>
        <p:txBody>
          <a:bodyPr wrap="square" lIns="0" tIns="0" rIns="0" bIns="0" rtlCol="0" anchor="ctr"/>
          <a:lstStyle/>
          <a:p>
            <a:pPr marL="0" indent="0">
              <a:buNone/>
            </a:pPr>
            <a:r>
              <a:rPr lang="en-US" sz="1400" dirty="0">
                <a:solidFill>
                  <a:srgbClr val="5B6B94"/>
                </a:solidFill>
                <a:latin typeface="Calibri" pitchFamily="34" charset="0"/>
                <a:ea typeface="Calibri" pitchFamily="34" charset="-122"/>
                <a:cs typeface="Calibri" pitchFamily="34" charset="-120"/>
              </a:rPr>
              <a:t>Barclays used process orchestration (Camunda) to manage every stage as one controlled, transparent flow</a:t>
            </a:r>
            <a:endParaRPr lang="en-US" sz="1400" dirty="0"/>
          </a:p>
        </p:txBody>
      </p:sp>
      <p:sp>
        <p:nvSpPr>
          <p:cNvPr id="4" name="Shape 2"/>
          <p:cNvSpPr/>
          <p:nvPr/>
        </p:nvSpPr>
        <p:spPr>
          <a:xfrm>
            <a:off x="745236" y="2468880"/>
            <a:ext cx="1737360" cy="1188720"/>
          </a:xfrm>
          <a:prstGeom prst="roundRect">
            <a:avLst>
              <a:gd name="adj" fmla="val 6154"/>
            </a:avLst>
          </a:prstGeom>
          <a:solidFill>
            <a:srgbClr val="1E2761"/>
          </a:solidFill>
          <a:ln/>
        </p:spPr>
        <p:txBody>
          <a:bodyPr/>
          <a:lstStyle/>
          <a:p>
            <a:endParaRPr lang="en-IN"/>
          </a:p>
        </p:txBody>
      </p:sp>
      <p:sp>
        <p:nvSpPr>
          <p:cNvPr id="5" name="Text 3"/>
          <p:cNvSpPr txBox="1"/>
          <p:nvPr/>
        </p:nvSpPr>
        <p:spPr>
          <a:xfrm>
            <a:off x="745236" y="2468880"/>
            <a:ext cx="173736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Trade</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Capture</a:t>
            </a:r>
            <a:endParaRPr lang="en-US" sz="1400" dirty="0"/>
          </a:p>
        </p:txBody>
      </p:sp>
      <p:sp>
        <p:nvSpPr>
          <p:cNvPr id="6" name="Text 4"/>
          <p:cNvSpPr txBox="1"/>
          <p:nvPr/>
        </p:nvSpPr>
        <p:spPr>
          <a:xfrm>
            <a:off x="2482596" y="2468880"/>
            <a:ext cx="502920" cy="1188720"/>
          </a:xfrm>
          <a:prstGeom prst="rect">
            <a:avLst/>
          </a:prstGeom>
          <a:noFill/>
          <a:ln/>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985516" y="2468880"/>
            <a:ext cx="1737360" cy="1188720"/>
          </a:xfrm>
          <a:prstGeom prst="roundRect">
            <a:avLst>
              <a:gd name="adj" fmla="val 6154"/>
            </a:avLst>
          </a:prstGeom>
          <a:solidFill>
            <a:srgbClr val="1E2761"/>
          </a:solidFill>
          <a:ln/>
        </p:spPr>
        <p:txBody>
          <a:bodyPr/>
          <a:lstStyle/>
          <a:p>
            <a:endParaRPr lang="en-IN"/>
          </a:p>
        </p:txBody>
      </p:sp>
      <p:sp>
        <p:nvSpPr>
          <p:cNvPr id="8" name="Text 6"/>
          <p:cNvSpPr txBox="1"/>
          <p:nvPr/>
        </p:nvSpPr>
        <p:spPr>
          <a:xfrm>
            <a:off x="2985516" y="2468880"/>
            <a:ext cx="173736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Validation</a:t>
            </a:r>
            <a:endParaRPr lang="en-US" sz="1400" dirty="0"/>
          </a:p>
        </p:txBody>
      </p:sp>
      <p:sp>
        <p:nvSpPr>
          <p:cNvPr id="9" name="Text 7"/>
          <p:cNvSpPr txBox="1"/>
          <p:nvPr/>
        </p:nvSpPr>
        <p:spPr>
          <a:xfrm>
            <a:off x="4722876" y="2468880"/>
            <a:ext cx="502920" cy="1188720"/>
          </a:xfrm>
          <a:prstGeom prst="rect">
            <a:avLst/>
          </a:prstGeom>
          <a:noFill/>
          <a:ln/>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225796" y="2468880"/>
            <a:ext cx="1737360" cy="1188720"/>
          </a:xfrm>
          <a:prstGeom prst="roundRect">
            <a:avLst>
              <a:gd name="adj" fmla="val 6154"/>
            </a:avLst>
          </a:prstGeom>
          <a:solidFill>
            <a:srgbClr val="1E2761"/>
          </a:solidFill>
          <a:ln/>
        </p:spPr>
        <p:txBody>
          <a:bodyPr/>
          <a:lstStyle/>
          <a:p>
            <a:endParaRPr lang="en-IN"/>
          </a:p>
        </p:txBody>
      </p:sp>
      <p:sp>
        <p:nvSpPr>
          <p:cNvPr id="11" name="Text 9"/>
          <p:cNvSpPr txBox="1"/>
          <p:nvPr/>
        </p:nvSpPr>
        <p:spPr>
          <a:xfrm>
            <a:off x="5225796" y="2468880"/>
            <a:ext cx="173736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Enrichment</a:t>
            </a:r>
            <a:endParaRPr lang="en-US" sz="1400" dirty="0"/>
          </a:p>
        </p:txBody>
      </p:sp>
      <p:sp>
        <p:nvSpPr>
          <p:cNvPr id="12" name="Text 10"/>
          <p:cNvSpPr txBox="1"/>
          <p:nvPr/>
        </p:nvSpPr>
        <p:spPr>
          <a:xfrm>
            <a:off x="6963156" y="2468880"/>
            <a:ext cx="502920" cy="1188720"/>
          </a:xfrm>
          <a:prstGeom prst="rect">
            <a:avLst/>
          </a:prstGeom>
          <a:noFill/>
          <a:ln/>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466076" y="2468880"/>
            <a:ext cx="1737360" cy="1188720"/>
          </a:xfrm>
          <a:prstGeom prst="roundRect">
            <a:avLst>
              <a:gd name="adj" fmla="val 6154"/>
            </a:avLst>
          </a:prstGeom>
          <a:solidFill>
            <a:srgbClr val="1E2761"/>
          </a:solidFill>
          <a:ln/>
        </p:spPr>
        <p:txBody>
          <a:bodyPr/>
          <a:lstStyle/>
          <a:p>
            <a:endParaRPr lang="en-IN"/>
          </a:p>
        </p:txBody>
      </p:sp>
      <p:sp>
        <p:nvSpPr>
          <p:cNvPr id="14" name="Text 12"/>
          <p:cNvSpPr txBox="1"/>
          <p:nvPr/>
        </p:nvSpPr>
        <p:spPr>
          <a:xfrm>
            <a:off x="7466076" y="2468880"/>
            <a:ext cx="173736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Matching</a:t>
            </a:r>
            <a:endParaRPr lang="en-US" sz="1400" dirty="0"/>
          </a:p>
        </p:txBody>
      </p:sp>
      <p:sp>
        <p:nvSpPr>
          <p:cNvPr id="15" name="Text 13"/>
          <p:cNvSpPr txBox="1"/>
          <p:nvPr/>
        </p:nvSpPr>
        <p:spPr>
          <a:xfrm>
            <a:off x="9203436" y="2468880"/>
            <a:ext cx="502920" cy="1188720"/>
          </a:xfrm>
          <a:prstGeom prst="rect">
            <a:avLst/>
          </a:prstGeom>
          <a:noFill/>
          <a:ln/>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706356" y="2468880"/>
            <a:ext cx="1737360" cy="1188720"/>
          </a:xfrm>
          <a:prstGeom prst="roundRect">
            <a:avLst>
              <a:gd name="adj" fmla="val 6154"/>
            </a:avLst>
          </a:prstGeom>
          <a:solidFill>
            <a:srgbClr val="E8A33D"/>
          </a:solidFill>
          <a:ln/>
        </p:spPr>
        <p:txBody>
          <a:bodyPr/>
          <a:lstStyle/>
          <a:p>
            <a:endParaRPr lang="en-IN"/>
          </a:p>
        </p:txBody>
      </p:sp>
      <p:sp>
        <p:nvSpPr>
          <p:cNvPr id="17" name="Text 15"/>
          <p:cNvSpPr txBox="1"/>
          <p:nvPr/>
        </p:nvSpPr>
        <p:spPr>
          <a:xfrm>
            <a:off x="9706356" y="2468880"/>
            <a:ext cx="1737360" cy="1188720"/>
          </a:xfrm>
          <a:prstGeom prst="rect">
            <a:avLst/>
          </a:prstGeom>
          <a:noFill/>
          <a:ln/>
        </p:spPr>
        <p:txBody>
          <a:bodyPr wrap="square" lIns="0" tIns="0" rIns="0" bIns="0"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Settlement</a:t>
            </a:r>
            <a:endParaRPr lang="en-US" sz="1400" dirty="0"/>
          </a:p>
        </p:txBody>
      </p:sp>
      <p:sp>
        <p:nvSpPr>
          <p:cNvPr id="18" name="Text 16"/>
          <p:cNvSpPr txBox="1"/>
          <p:nvPr/>
        </p:nvSpPr>
        <p:spPr>
          <a:xfrm>
            <a:off x="914400" y="4160520"/>
            <a:ext cx="1005840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Exception &amp; Break Handling — orchestrated, not manual</a:t>
            </a:r>
            <a:endParaRPr lang="en-US" sz="1500" dirty="0"/>
          </a:p>
        </p:txBody>
      </p:sp>
      <p:sp>
        <p:nvSpPr>
          <p:cNvPr id="19" name="Shape 17"/>
          <p:cNvSpPr/>
          <p:nvPr/>
        </p:nvSpPr>
        <p:spPr>
          <a:xfrm>
            <a:off x="914400" y="4572000"/>
            <a:ext cx="10332720" cy="1417320"/>
          </a:xfrm>
          <a:prstGeom prst="roundRect">
            <a:avLst>
              <a:gd name="adj" fmla="val 3871"/>
            </a:avLst>
          </a:prstGeom>
          <a:solidFill>
            <a:srgbClr val="F4F7FD"/>
          </a:solidFill>
          <a:ln/>
        </p:spPr>
        <p:txBody>
          <a:bodyPr/>
          <a:lstStyle/>
          <a:p>
            <a:endParaRPr lang="en-IN"/>
          </a:p>
        </p:txBody>
      </p:sp>
      <p:sp>
        <p:nvSpPr>
          <p:cNvPr id="20" name="Text 18"/>
          <p:cNvSpPr txBox="1"/>
          <p:nvPr/>
        </p:nvSpPr>
        <p:spPr>
          <a:xfrm>
            <a:off x="1188720" y="4709160"/>
            <a:ext cx="9784080" cy="868680"/>
          </a:xfrm>
          <a:prstGeom prst="rect">
            <a:avLst/>
          </a:prstGeom>
          <a:noFill/>
          <a:ln/>
        </p:spPr>
        <p:txBody>
          <a:bodyPr wrap="square" lIns="0" tIns="0" rIns="0" bIns="0" rtlCol="0" anchor="ctr"/>
          <a:lstStyle/>
          <a:p>
            <a:pPr marL="0" indent="0">
              <a:buNone/>
            </a:pPr>
            <a:r>
              <a:rPr lang="en-US" sz="1350" i="1" dirty="0">
                <a:solidFill>
                  <a:srgbClr val="1E2761"/>
                </a:solidFill>
                <a:latin typeface="Cambria" pitchFamily="34" charset="0"/>
                <a:ea typeface="Cambria" pitchFamily="34" charset="-122"/>
                <a:cs typeface="Cambria" pitchFamily="34" charset="-120"/>
              </a:rPr>
              <a:t>“One of the functions I was very excited about was the ability to replay from a failed step. It’s extremely easy — you click on the exception, see why it failed. That’s so valuable.”</a:t>
            </a:r>
            <a:endParaRPr lang="en-US" sz="1350" dirty="0"/>
          </a:p>
        </p:txBody>
      </p:sp>
      <p:sp>
        <p:nvSpPr>
          <p:cNvPr id="21" name="Text 19"/>
          <p:cNvSpPr txBox="1"/>
          <p:nvPr/>
        </p:nvSpPr>
        <p:spPr>
          <a:xfrm>
            <a:off x="1188720" y="5577840"/>
            <a:ext cx="9144000" cy="274320"/>
          </a:xfrm>
          <a:prstGeom prst="rect">
            <a:avLst/>
          </a:prstGeom>
          <a:noFill/>
          <a:ln/>
        </p:spPr>
        <p:txBody>
          <a:bodyPr wrap="square" lIns="0" tIns="0" rIns="0" bIns="0" rtlCol="0" anchor="ctr"/>
          <a:lstStyle/>
          <a:p>
            <a:pPr marL="0" indent="0">
              <a:buNone/>
            </a:pPr>
            <a:r>
              <a:rPr lang="en-US" sz="1050" dirty="0">
                <a:solidFill>
                  <a:srgbClr val="5B6B94"/>
                </a:solidFill>
                <a:latin typeface="Calibri" pitchFamily="34" charset="0"/>
                <a:ea typeface="Calibri" pitchFamily="34" charset="-122"/>
                <a:cs typeface="Calibri" pitchFamily="34" charset="-120"/>
              </a:rPr>
              <a:t>— Larisa Kvetnoy, Managing Director, Post-Trade Technology, Barclays</a:t>
            </a:r>
            <a:endParaRPr lang="en-US" sz="1050" dirty="0"/>
          </a:p>
        </p:txBody>
      </p:sp>
      <p:sp>
        <p:nvSpPr>
          <p:cNvPr id="22" name="Text 20"/>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B94"/>
                </a:solidFill>
                <a:latin typeface="Calibri" pitchFamily="34" charset="0"/>
                <a:ea typeface="Calibri" pitchFamily="34" charset="-122"/>
                <a:cs typeface="Calibri" pitchFamily="34" charset="-120"/>
              </a:rPr>
              <a:t>Barclays Post-Trade Transformation</a:t>
            </a:r>
            <a:endParaRPr lang="en-US" sz="900" dirty="0"/>
          </a:p>
        </p:txBody>
      </p:sp>
      <p:sp>
        <p:nvSpPr>
          <p:cNvPr id="23" name="Text 21"/>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Now: T+1 as the Forcing Function</a:t>
            </a:r>
            <a:endParaRPr lang="en-US" sz="3000" dirty="0"/>
          </a:p>
        </p:txBody>
      </p:sp>
      <p:sp>
        <p:nvSpPr>
          <p:cNvPr id="3" name="Text 1"/>
          <p:cNvSpPr txBox="1"/>
          <p:nvPr/>
        </p:nvSpPr>
        <p:spPr>
          <a:xfrm>
            <a:off x="548640" y="1005840"/>
            <a:ext cx="1024128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Shorter settlement windows leave far less room for manual exception handling</a:t>
            </a:r>
            <a:endParaRPr lang="en-US" sz="1400" dirty="0"/>
          </a:p>
        </p:txBody>
      </p:sp>
      <p:sp>
        <p:nvSpPr>
          <p:cNvPr id="4" name="Shape 2"/>
          <p:cNvSpPr/>
          <p:nvPr/>
        </p:nvSpPr>
        <p:spPr>
          <a:xfrm>
            <a:off x="548640" y="1828800"/>
            <a:ext cx="3291840" cy="1920240"/>
          </a:xfrm>
          <a:prstGeom prst="roundRect">
            <a:avLst>
              <a:gd name="adj" fmla="val 3810"/>
            </a:avLst>
          </a:prstGeom>
          <a:solidFill>
            <a:srgbClr val="141A47"/>
          </a:solidFill>
          <a:ln/>
        </p:spPr>
        <p:txBody>
          <a:bodyPr/>
          <a:lstStyle/>
          <a:p>
            <a:endParaRPr lang="en-IN"/>
          </a:p>
        </p:txBody>
      </p:sp>
      <p:sp>
        <p:nvSpPr>
          <p:cNvPr id="5" name="Text 3"/>
          <p:cNvSpPr txBox="1"/>
          <p:nvPr/>
        </p:nvSpPr>
        <p:spPr>
          <a:xfrm>
            <a:off x="548640" y="1965960"/>
            <a:ext cx="3291840" cy="914400"/>
          </a:xfrm>
          <a:prstGeom prst="rect">
            <a:avLst/>
          </a:prstGeom>
          <a:noFill/>
          <a:ln/>
        </p:spPr>
        <p:txBody>
          <a:bodyPr wrap="square" lIns="0" tIns="0" rIns="0" bIns="0" rtlCol="0" anchor="ctr"/>
          <a:lstStyle/>
          <a:p>
            <a:pPr marL="0" indent="0" algn="ctr">
              <a:buNone/>
            </a:pPr>
            <a:r>
              <a:rPr lang="en-US" sz="3000" b="1" dirty="0">
                <a:solidFill>
                  <a:srgbClr val="E8A33D"/>
                </a:solidFill>
                <a:latin typeface="Cambria" pitchFamily="34" charset="0"/>
                <a:ea typeface="Cambria" pitchFamily="34" charset="-122"/>
                <a:cs typeface="Cambria" pitchFamily="34" charset="-120"/>
              </a:rPr>
              <a:t>T+2 → T+1</a:t>
            </a:r>
            <a:endParaRPr lang="en-US" sz="3000" dirty="0"/>
          </a:p>
        </p:txBody>
      </p:sp>
      <p:sp>
        <p:nvSpPr>
          <p:cNvPr id="6" name="Text 4"/>
          <p:cNvSpPr txBox="1"/>
          <p:nvPr/>
        </p:nvSpPr>
        <p:spPr>
          <a:xfrm>
            <a:off x="777240" y="2880360"/>
            <a:ext cx="2834640" cy="777240"/>
          </a:xfrm>
          <a:prstGeom prst="rect">
            <a:avLst/>
          </a:prstGeom>
          <a:noFill/>
          <a:ln/>
        </p:spPr>
        <p:txBody>
          <a:bodyPr wrap="square" lIns="0" tIns="0" rIns="0" bIns="0"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US equities moved to next-day settlement in May 2024</a:t>
            </a:r>
            <a:endParaRPr lang="en-US" sz="1150" dirty="0"/>
          </a:p>
        </p:txBody>
      </p:sp>
      <p:sp>
        <p:nvSpPr>
          <p:cNvPr id="7" name="Shape 5"/>
          <p:cNvSpPr/>
          <p:nvPr/>
        </p:nvSpPr>
        <p:spPr>
          <a:xfrm>
            <a:off x="4160520" y="1920240"/>
            <a:ext cx="146304" cy="146304"/>
          </a:xfrm>
          <a:prstGeom prst="ellipse">
            <a:avLst/>
          </a:prstGeom>
          <a:solidFill>
            <a:srgbClr val="E8A33D"/>
          </a:solidFill>
          <a:ln/>
        </p:spPr>
        <p:txBody>
          <a:bodyPr/>
          <a:lstStyle/>
          <a:p>
            <a:endParaRPr lang="en-IN"/>
          </a:p>
        </p:txBody>
      </p:sp>
      <p:sp>
        <p:nvSpPr>
          <p:cNvPr id="8" name="Text 6"/>
          <p:cNvSpPr txBox="1"/>
          <p:nvPr/>
        </p:nvSpPr>
        <p:spPr>
          <a:xfrm>
            <a:off x="4480560" y="1755648"/>
            <a:ext cx="6949440" cy="6400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Less time between trade and settlement means less time to catch and fix breaks manually</a:t>
            </a:r>
            <a:endParaRPr lang="en-US" sz="1350" dirty="0"/>
          </a:p>
        </p:txBody>
      </p:sp>
      <p:sp>
        <p:nvSpPr>
          <p:cNvPr id="9" name="Shape 7"/>
          <p:cNvSpPr/>
          <p:nvPr/>
        </p:nvSpPr>
        <p:spPr>
          <a:xfrm>
            <a:off x="4160520" y="2697480"/>
            <a:ext cx="146304" cy="146304"/>
          </a:xfrm>
          <a:prstGeom prst="ellipse">
            <a:avLst/>
          </a:prstGeom>
          <a:solidFill>
            <a:srgbClr val="E8A33D"/>
          </a:solidFill>
          <a:ln/>
        </p:spPr>
        <p:txBody>
          <a:bodyPr/>
          <a:lstStyle/>
          <a:p>
            <a:endParaRPr lang="en-IN"/>
          </a:p>
        </p:txBody>
      </p:sp>
      <p:sp>
        <p:nvSpPr>
          <p:cNvPr id="10" name="Text 8"/>
          <p:cNvSpPr txBox="1"/>
          <p:nvPr/>
        </p:nvSpPr>
        <p:spPr>
          <a:xfrm>
            <a:off x="4480560" y="2532888"/>
            <a:ext cx="6949440" cy="6400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Firms still on legacy, manually-reconciled systems are structurally disadvantaged under tighter deadlines</a:t>
            </a:r>
            <a:endParaRPr lang="en-US" sz="1350" dirty="0"/>
          </a:p>
        </p:txBody>
      </p:sp>
      <p:sp>
        <p:nvSpPr>
          <p:cNvPr id="11" name="Shape 9"/>
          <p:cNvSpPr/>
          <p:nvPr/>
        </p:nvSpPr>
        <p:spPr>
          <a:xfrm>
            <a:off x="4160520" y="3474720"/>
            <a:ext cx="146304" cy="146304"/>
          </a:xfrm>
          <a:prstGeom prst="ellipse">
            <a:avLst/>
          </a:prstGeom>
          <a:solidFill>
            <a:srgbClr val="E8A33D"/>
          </a:solidFill>
          <a:ln/>
        </p:spPr>
        <p:txBody>
          <a:bodyPr/>
          <a:lstStyle/>
          <a:p>
            <a:endParaRPr lang="en-IN"/>
          </a:p>
        </p:txBody>
      </p:sp>
      <p:sp>
        <p:nvSpPr>
          <p:cNvPr id="12" name="Text 10"/>
          <p:cNvSpPr txBox="1"/>
          <p:nvPr/>
        </p:nvSpPr>
        <p:spPr>
          <a:xfrm>
            <a:off x="4480560" y="3310128"/>
            <a:ext cx="6949440" cy="6400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Orchestration + straight-through processing become a competitive necessity, not a nice-to-have</a:t>
            </a:r>
            <a:endParaRPr lang="en-US" sz="1350" dirty="0"/>
          </a:p>
        </p:txBody>
      </p:sp>
      <p:sp>
        <p:nvSpPr>
          <p:cNvPr id="13" name="Text 11"/>
          <p:cNvSpPr txBox="1"/>
          <p:nvPr/>
        </p:nvSpPr>
        <p:spPr>
          <a:xfrm>
            <a:off x="548640" y="5212080"/>
            <a:ext cx="10515600" cy="1005840"/>
          </a:xfrm>
          <a:prstGeom prst="rect">
            <a:avLst/>
          </a:prstGeom>
          <a:noFill/>
          <a:ln/>
        </p:spPr>
        <p:txBody>
          <a:bodyPr wrap="square" lIns="0" tIns="0" rIns="0" bIns="0"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Same pressure, different outcome: in Jan 2021, a spike in clearinghouse collateral demands tied to settlement risk forced Robinhood to restrict GameStop trading — a reminder of what happens when post-trade infrastructure can’t absorb stress.</a:t>
            </a:r>
            <a:endParaRPr lang="en-US" sz="1250" dirty="0"/>
          </a:p>
        </p:txBody>
      </p:sp>
      <p:sp>
        <p:nvSpPr>
          <p:cNvPr id="14" name="Text 12"/>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8B9BC7"/>
                </a:solidFill>
                <a:latin typeface="Calibri" pitchFamily="34" charset="0"/>
                <a:ea typeface="Calibri" pitchFamily="34" charset="-122"/>
                <a:cs typeface="Calibri" pitchFamily="34" charset="-120"/>
              </a:rPr>
              <a:t>Barclays Post-Trade Transformation</a:t>
            </a:r>
            <a:endParaRPr lang="en-US" sz="900" dirty="0"/>
          </a:p>
        </p:txBody>
      </p:sp>
      <p:sp>
        <p:nvSpPr>
          <p:cNvPr id="15" name="Text 13"/>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8B9BC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Broader Industry Trend</a:t>
            </a:r>
            <a:endParaRPr lang="en-US" sz="3000" dirty="0"/>
          </a:p>
        </p:txBody>
      </p:sp>
      <p:sp>
        <p:nvSpPr>
          <p:cNvPr id="3" name="Text 1"/>
          <p:cNvSpPr txBox="1"/>
          <p:nvPr/>
        </p:nvSpPr>
        <p:spPr>
          <a:xfrm>
            <a:off x="548640" y="1005840"/>
            <a:ext cx="10515600" cy="365760"/>
          </a:xfrm>
          <a:prstGeom prst="rect">
            <a:avLst/>
          </a:prstGeom>
          <a:noFill/>
          <a:ln/>
        </p:spPr>
        <p:txBody>
          <a:bodyPr wrap="square" lIns="0" tIns="0" rIns="0" bIns="0" rtlCol="0" anchor="ctr"/>
          <a:lstStyle/>
          <a:p>
            <a:pPr marL="0" indent="0">
              <a:buNone/>
            </a:pPr>
            <a:r>
              <a:rPr lang="en-US" sz="1400" dirty="0">
                <a:solidFill>
                  <a:srgbClr val="5B6B94"/>
                </a:solidFill>
                <a:latin typeface="Calibri" pitchFamily="34" charset="0"/>
                <a:ea typeface="Calibri" pitchFamily="34" charset="-122"/>
                <a:cs typeface="Calibri" pitchFamily="34" charset="-120"/>
              </a:rPr>
              <a:t>Barclays is one data point in an industry-wide push toward automated, reconciled post-trade infrastructure</a:t>
            </a:r>
            <a:endParaRPr lang="en-US" sz="1400" dirty="0"/>
          </a:p>
        </p:txBody>
      </p:sp>
      <p:sp>
        <p:nvSpPr>
          <p:cNvPr id="4" name="Shape 2"/>
          <p:cNvSpPr/>
          <p:nvPr/>
        </p:nvSpPr>
        <p:spPr>
          <a:xfrm>
            <a:off x="548640" y="2011680"/>
            <a:ext cx="3444240" cy="2103120"/>
          </a:xfrm>
          <a:prstGeom prst="roundRect">
            <a:avLst>
              <a:gd name="adj" fmla="val 3478"/>
            </a:avLst>
          </a:prstGeom>
          <a:solidFill>
            <a:srgbClr val="F4F7FD"/>
          </a:solidFill>
          <a:ln/>
        </p:spPr>
        <p:txBody>
          <a:bodyPr/>
          <a:lstStyle/>
          <a:p>
            <a:endParaRPr lang="en-IN"/>
          </a:p>
        </p:txBody>
      </p:sp>
      <p:sp>
        <p:nvSpPr>
          <p:cNvPr id="5" name="Text 3"/>
          <p:cNvSpPr txBox="1"/>
          <p:nvPr/>
        </p:nvSpPr>
        <p:spPr>
          <a:xfrm>
            <a:off x="548640" y="2240280"/>
            <a:ext cx="3444240" cy="822960"/>
          </a:xfrm>
          <a:prstGeom prst="rect">
            <a:avLst/>
          </a:prstGeom>
          <a:noFill/>
          <a:ln/>
        </p:spPr>
        <p:txBody>
          <a:bodyPr wrap="square" lIns="0" tIns="0" rIns="0" bIns="0"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98%</a:t>
            </a:r>
            <a:endParaRPr lang="en-US" sz="3400" dirty="0"/>
          </a:p>
        </p:txBody>
      </p:sp>
      <p:sp>
        <p:nvSpPr>
          <p:cNvPr id="6" name="Text 4"/>
          <p:cNvSpPr txBox="1"/>
          <p:nvPr/>
        </p:nvSpPr>
        <p:spPr>
          <a:xfrm>
            <a:off x="777240" y="3108960"/>
            <a:ext cx="2987040" cy="91440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automated matching achievable with modern reconciliation tooling</a:t>
            </a:r>
            <a:endParaRPr lang="en-US" sz="1150" dirty="0"/>
          </a:p>
        </p:txBody>
      </p:sp>
      <p:sp>
        <p:nvSpPr>
          <p:cNvPr id="7" name="Shape 5"/>
          <p:cNvSpPr/>
          <p:nvPr/>
        </p:nvSpPr>
        <p:spPr>
          <a:xfrm>
            <a:off x="4358640" y="2011680"/>
            <a:ext cx="3444240" cy="2103120"/>
          </a:xfrm>
          <a:prstGeom prst="roundRect">
            <a:avLst>
              <a:gd name="adj" fmla="val 3478"/>
            </a:avLst>
          </a:prstGeom>
          <a:solidFill>
            <a:srgbClr val="F4F7FD"/>
          </a:solidFill>
          <a:ln/>
        </p:spPr>
        <p:txBody>
          <a:bodyPr/>
          <a:lstStyle/>
          <a:p>
            <a:endParaRPr lang="en-IN"/>
          </a:p>
        </p:txBody>
      </p:sp>
      <p:sp>
        <p:nvSpPr>
          <p:cNvPr id="8" name="Text 6"/>
          <p:cNvSpPr txBox="1"/>
          <p:nvPr/>
        </p:nvSpPr>
        <p:spPr>
          <a:xfrm>
            <a:off x="4358640" y="2240280"/>
            <a:ext cx="3444240" cy="822960"/>
          </a:xfrm>
          <a:prstGeom prst="rect">
            <a:avLst/>
          </a:prstGeom>
          <a:noFill/>
          <a:ln/>
        </p:spPr>
        <p:txBody>
          <a:bodyPr wrap="square" lIns="0" tIns="0" rIns="0" bIns="0"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70–80%</a:t>
            </a:r>
            <a:endParaRPr lang="en-US" sz="3400" dirty="0"/>
          </a:p>
        </p:txBody>
      </p:sp>
      <p:sp>
        <p:nvSpPr>
          <p:cNvPr id="9" name="Text 7"/>
          <p:cNvSpPr txBox="1"/>
          <p:nvPr/>
        </p:nvSpPr>
        <p:spPr>
          <a:xfrm>
            <a:off x="4587240" y="3108960"/>
            <a:ext cx="2987040" cy="91440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shorter reconciliation cycles vs. manual processes</a:t>
            </a:r>
            <a:endParaRPr lang="en-US" sz="1150" dirty="0"/>
          </a:p>
        </p:txBody>
      </p:sp>
      <p:sp>
        <p:nvSpPr>
          <p:cNvPr id="10" name="Shape 8"/>
          <p:cNvSpPr/>
          <p:nvPr/>
        </p:nvSpPr>
        <p:spPr>
          <a:xfrm>
            <a:off x="8168640" y="2011680"/>
            <a:ext cx="3444240" cy="2103120"/>
          </a:xfrm>
          <a:prstGeom prst="roundRect">
            <a:avLst>
              <a:gd name="adj" fmla="val 3478"/>
            </a:avLst>
          </a:prstGeom>
          <a:solidFill>
            <a:srgbClr val="F4F7FD"/>
          </a:solidFill>
          <a:ln/>
        </p:spPr>
        <p:txBody>
          <a:bodyPr/>
          <a:lstStyle/>
          <a:p>
            <a:endParaRPr lang="en-IN"/>
          </a:p>
        </p:txBody>
      </p:sp>
      <p:sp>
        <p:nvSpPr>
          <p:cNvPr id="11" name="Text 9"/>
          <p:cNvSpPr txBox="1"/>
          <p:nvPr/>
        </p:nvSpPr>
        <p:spPr>
          <a:xfrm>
            <a:off x="8168640" y="2240280"/>
            <a:ext cx="3444240" cy="822960"/>
          </a:xfrm>
          <a:prstGeom prst="rect">
            <a:avLst/>
          </a:prstGeom>
          <a:noFill/>
          <a:ln/>
        </p:spPr>
        <p:txBody>
          <a:bodyPr wrap="square" lIns="0" tIns="0" rIns="0" bIns="0"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~2.5x</a:t>
            </a:r>
            <a:endParaRPr lang="en-US" sz="3400" dirty="0"/>
          </a:p>
        </p:txBody>
      </p:sp>
      <p:sp>
        <p:nvSpPr>
          <p:cNvPr id="12" name="Text 10"/>
          <p:cNvSpPr txBox="1"/>
          <p:nvPr/>
        </p:nvSpPr>
        <p:spPr>
          <a:xfrm>
            <a:off x="8397240" y="3108960"/>
            <a:ext cx="2987040" cy="914400"/>
          </a:xfrm>
          <a:prstGeom prst="rect">
            <a:avLst/>
          </a:prstGeom>
          <a:noFill/>
          <a:ln/>
        </p:spPr>
        <p:txBody>
          <a:bodyPr wrap="square" lIns="0" tIns="0" rIns="0" bIns="0" rtlCol="0" anchor="ctr"/>
          <a:lstStyle/>
          <a:p>
            <a:pPr marL="0" indent="0" algn="ctr">
              <a:buNone/>
            </a:pPr>
            <a:r>
              <a:rPr lang="en-US" sz="1150" dirty="0">
                <a:solidFill>
                  <a:srgbClr val="5B6B94"/>
                </a:solidFill>
                <a:latin typeface="Calibri" pitchFamily="34" charset="0"/>
                <a:ea typeface="Calibri" pitchFamily="34" charset="-122"/>
                <a:cs typeface="Calibri" pitchFamily="34" charset="-120"/>
              </a:rPr>
              <a:t>rise in settlement fails at one major EU CSD, 2024 → 2025</a:t>
            </a:r>
            <a:endParaRPr lang="en-US" sz="1150" dirty="0"/>
          </a:p>
        </p:txBody>
      </p:sp>
      <p:sp>
        <p:nvSpPr>
          <p:cNvPr id="13" name="Text 11"/>
          <p:cNvSpPr txBox="1"/>
          <p:nvPr/>
        </p:nvSpPr>
        <p:spPr>
          <a:xfrm>
            <a:off x="548640" y="4526280"/>
            <a:ext cx="10424160" cy="731520"/>
          </a:xfrm>
          <a:prstGeom prst="rect">
            <a:avLst/>
          </a:prstGeom>
          <a:noFill/>
          <a:ln/>
        </p:spPr>
        <p:txBody>
          <a:bodyPr wrap="square" lIns="0" tIns="0" rIns="0" bIns="0" rtlCol="0" anchor="ctr"/>
          <a:lstStyle/>
          <a:p>
            <a:pPr marL="0" indent="0">
              <a:buNone/>
            </a:pPr>
            <a:r>
              <a:rPr lang="en-US" sz="1350" dirty="0">
                <a:solidFill>
                  <a:srgbClr val="1E2761"/>
                </a:solidFill>
                <a:latin typeface="Calibri" pitchFamily="34" charset="0"/>
                <a:ea typeface="Calibri" pitchFamily="34" charset="-122"/>
                <a:cs typeface="Calibri" pitchFamily="34" charset="-120"/>
              </a:rPr>
              <a:t>Regulatory frameworks like CSDR’s Settlement Discipline Regime are pushing the same direction: fewer manual touchpoints, more real-time reconciliation, tighter settlement-fail tolerances.</a:t>
            </a:r>
            <a:endParaRPr lang="en-US" sz="1350" dirty="0"/>
          </a:p>
        </p:txBody>
      </p:sp>
      <p:sp>
        <p:nvSpPr>
          <p:cNvPr id="14" name="Text 12"/>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B94"/>
                </a:solidFill>
                <a:latin typeface="Calibri" pitchFamily="34" charset="0"/>
                <a:ea typeface="Calibri" pitchFamily="34" charset="-122"/>
                <a:cs typeface="Calibri" pitchFamily="34" charset="-120"/>
              </a:rPr>
              <a:t>Barclays Post-Trade Transformation</a:t>
            </a:r>
            <a:endParaRPr lang="en-US" sz="900" dirty="0"/>
          </a:p>
        </p:txBody>
      </p:sp>
      <p:sp>
        <p:nvSpPr>
          <p:cNvPr id="15" name="Text 13"/>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188720" y="-1188720"/>
            <a:ext cx="3291840" cy="3291840"/>
          </a:xfrm>
          <a:prstGeom prst="ellipse">
            <a:avLst/>
          </a:prstGeom>
          <a:solidFill>
            <a:srgbClr val="141A47"/>
          </a:solidFill>
          <a:ln/>
        </p:spPr>
        <p:txBody>
          <a:bodyPr/>
          <a:lstStyle/>
          <a:p>
            <a:endParaRPr lang="en-IN"/>
          </a:p>
        </p:txBody>
      </p:sp>
      <p:sp>
        <p:nvSpPr>
          <p:cNvPr id="3" name="Text 1"/>
          <p:cNvSpPr txBox="1"/>
          <p:nvPr/>
        </p:nvSpPr>
        <p:spPr>
          <a:xfrm>
            <a:off x="548640" y="50292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for IB Operations</a:t>
            </a:r>
            <a:endParaRPr lang="en-US" sz="3000" dirty="0"/>
          </a:p>
        </p:txBody>
      </p:sp>
      <p:sp>
        <p:nvSpPr>
          <p:cNvPr id="4" name="Shape 2"/>
          <p:cNvSpPr/>
          <p:nvPr/>
        </p:nvSpPr>
        <p:spPr>
          <a:xfrm>
            <a:off x="548640" y="1417320"/>
            <a:ext cx="502920" cy="502920"/>
          </a:xfrm>
          <a:prstGeom prst="roundRect">
            <a:avLst>
              <a:gd name="adj" fmla="val 100000"/>
            </a:avLst>
          </a:prstGeom>
          <a:solidFill>
            <a:srgbClr val="E8A33D"/>
          </a:solidFill>
          <a:ln/>
        </p:spPr>
        <p:txBody>
          <a:bodyPr/>
          <a:lstStyle/>
          <a:p>
            <a:endParaRPr lang="en-IN"/>
          </a:p>
        </p:txBody>
      </p:sp>
      <p:sp>
        <p:nvSpPr>
          <p:cNvPr id="5" name="Text 3"/>
          <p:cNvSpPr txBox="1"/>
          <p:nvPr/>
        </p:nvSpPr>
        <p:spPr>
          <a:xfrm>
            <a:off x="548640" y="1417320"/>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34440" y="1371600"/>
            <a:ext cx="987552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STP is the goal, exceptions are the enemy</a:t>
            </a:r>
            <a:endParaRPr lang="en-US" sz="1600" dirty="0"/>
          </a:p>
        </p:txBody>
      </p:sp>
      <p:sp>
        <p:nvSpPr>
          <p:cNvPr id="7" name="Text 5"/>
          <p:cNvSpPr txBox="1"/>
          <p:nvPr/>
        </p:nvSpPr>
        <p:spPr>
          <a:xfrm>
            <a:off x="1234440" y="1801368"/>
            <a:ext cx="9875520" cy="5486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Every hour spent manually reconciling breaks is an hour not spent preventing the next one.</a:t>
            </a:r>
            <a:endParaRPr lang="en-US" sz="1250" dirty="0"/>
          </a:p>
        </p:txBody>
      </p:sp>
      <p:sp>
        <p:nvSpPr>
          <p:cNvPr id="8" name="Shape 6"/>
          <p:cNvSpPr/>
          <p:nvPr/>
        </p:nvSpPr>
        <p:spPr>
          <a:xfrm>
            <a:off x="548640" y="2587752"/>
            <a:ext cx="502920" cy="502920"/>
          </a:xfrm>
          <a:prstGeom prst="roundRect">
            <a:avLst>
              <a:gd name="adj" fmla="val 100000"/>
            </a:avLst>
          </a:prstGeom>
          <a:solidFill>
            <a:srgbClr val="E8A33D"/>
          </a:solidFill>
          <a:ln/>
        </p:spPr>
        <p:txBody>
          <a:bodyPr/>
          <a:lstStyle/>
          <a:p>
            <a:endParaRPr lang="en-IN"/>
          </a:p>
        </p:txBody>
      </p:sp>
      <p:sp>
        <p:nvSpPr>
          <p:cNvPr id="9" name="Text 7"/>
          <p:cNvSpPr txBox="1"/>
          <p:nvPr/>
        </p:nvSpPr>
        <p:spPr>
          <a:xfrm>
            <a:off x="548640" y="2587752"/>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234440" y="2542032"/>
            <a:ext cx="987552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Regulation compresses timelines, not just adds rules</a:t>
            </a:r>
            <a:endParaRPr lang="en-US" sz="1600" dirty="0"/>
          </a:p>
        </p:txBody>
      </p:sp>
      <p:sp>
        <p:nvSpPr>
          <p:cNvPr id="11" name="Text 9"/>
          <p:cNvSpPr txBox="1"/>
          <p:nvPr/>
        </p:nvSpPr>
        <p:spPr>
          <a:xfrm>
            <a:off x="1234440" y="2971800"/>
            <a:ext cx="9875520" cy="5486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T+1 doesn't just add compliance work — it structurally punishes firms with slow, manual post-trade processes.</a:t>
            </a:r>
            <a:endParaRPr lang="en-US" sz="1250" dirty="0"/>
          </a:p>
        </p:txBody>
      </p:sp>
      <p:sp>
        <p:nvSpPr>
          <p:cNvPr id="12" name="Shape 10"/>
          <p:cNvSpPr/>
          <p:nvPr/>
        </p:nvSpPr>
        <p:spPr>
          <a:xfrm>
            <a:off x="548640" y="3758184"/>
            <a:ext cx="502920" cy="502920"/>
          </a:xfrm>
          <a:prstGeom prst="roundRect">
            <a:avLst>
              <a:gd name="adj" fmla="val 100000"/>
            </a:avLst>
          </a:prstGeom>
          <a:solidFill>
            <a:srgbClr val="E8A33D"/>
          </a:solidFill>
          <a:ln/>
        </p:spPr>
        <p:txBody>
          <a:bodyPr/>
          <a:lstStyle/>
          <a:p>
            <a:endParaRPr lang="en-IN"/>
          </a:p>
        </p:txBody>
      </p:sp>
      <p:sp>
        <p:nvSpPr>
          <p:cNvPr id="13" name="Text 11"/>
          <p:cNvSpPr txBox="1"/>
          <p:nvPr/>
        </p:nvSpPr>
        <p:spPr>
          <a:xfrm>
            <a:off x="548640" y="3758184"/>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234440" y="3712464"/>
            <a:ext cx="987552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Visibility beats heroics</a:t>
            </a:r>
            <a:endParaRPr lang="en-US" sz="1600" dirty="0"/>
          </a:p>
        </p:txBody>
      </p:sp>
      <p:sp>
        <p:nvSpPr>
          <p:cNvPr id="15" name="Text 13"/>
          <p:cNvSpPr txBox="1"/>
          <p:nvPr/>
        </p:nvSpPr>
        <p:spPr>
          <a:xfrm>
            <a:off x="1234440" y="4142232"/>
            <a:ext cx="9875520" cy="5486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Being able to see exactly why a trade is stuck matters more than having skilled people trace it manually.</a:t>
            </a:r>
            <a:endParaRPr lang="en-US" sz="1250" dirty="0"/>
          </a:p>
        </p:txBody>
      </p:sp>
      <p:sp>
        <p:nvSpPr>
          <p:cNvPr id="16" name="Shape 14"/>
          <p:cNvSpPr/>
          <p:nvPr/>
        </p:nvSpPr>
        <p:spPr>
          <a:xfrm>
            <a:off x="548640" y="4928616"/>
            <a:ext cx="502920" cy="502920"/>
          </a:xfrm>
          <a:prstGeom prst="roundRect">
            <a:avLst>
              <a:gd name="adj" fmla="val 100000"/>
            </a:avLst>
          </a:prstGeom>
          <a:solidFill>
            <a:srgbClr val="E8A33D"/>
          </a:solidFill>
          <a:ln/>
        </p:spPr>
        <p:txBody>
          <a:bodyPr/>
          <a:lstStyle/>
          <a:p>
            <a:endParaRPr lang="en-IN"/>
          </a:p>
        </p:txBody>
      </p:sp>
      <p:sp>
        <p:nvSpPr>
          <p:cNvPr id="17" name="Text 15"/>
          <p:cNvSpPr txBox="1"/>
          <p:nvPr/>
        </p:nvSpPr>
        <p:spPr>
          <a:xfrm>
            <a:off x="548640" y="4928616"/>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234440" y="4882896"/>
            <a:ext cx="987552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Modernization is now a resilience issue, not just an IT project</a:t>
            </a:r>
            <a:endParaRPr lang="en-US" sz="1600" dirty="0"/>
          </a:p>
        </p:txBody>
      </p:sp>
      <p:sp>
        <p:nvSpPr>
          <p:cNvPr id="19" name="Text 17"/>
          <p:cNvSpPr txBox="1"/>
          <p:nvPr/>
        </p:nvSpPr>
        <p:spPr>
          <a:xfrm>
            <a:off x="1234440" y="5312664"/>
            <a:ext cx="9875520" cy="5486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Legacy infrastructure isn’t only expensive — it's an operational risk in its own right.</a:t>
            </a:r>
            <a:endParaRPr lang="en-US" sz="1250" dirty="0"/>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8B9BC7"/>
                </a:solidFill>
                <a:latin typeface="Calibri" pitchFamily="34" charset="0"/>
                <a:ea typeface="Calibri" pitchFamily="34" charset="-122"/>
                <a:cs typeface="Calibri" pitchFamily="34" charset="-120"/>
              </a:rPr>
              <a:t>Barclays Post-Trade Transformation</a:t>
            </a:r>
            <a:endParaRPr lang="en-US" sz="900" dirty="0"/>
          </a:p>
        </p:txBody>
      </p:sp>
      <p:sp>
        <p:nvSpPr>
          <p:cNvPr id="21" name="Text 19"/>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8B9BC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1371</Words>
  <Application>Microsoft Office PowerPoint</Application>
  <PresentationFormat>Widescreen</PresentationFormat>
  <Paragraphs>119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Ayush Raipure</cp:lastModifiedBy>
  <cp:revision>1</cp:revision>
  <dcterms:created xsi:type="dcterms:W3CDTF">2026-09-23T03:53:02Z</dcterms:created>
  <dcterms:modified xsi:type="dcterms:W3CDTF">2026-09-23T04:12:50Z</dcterms:modified>
</cp:coreProperties>
</file>